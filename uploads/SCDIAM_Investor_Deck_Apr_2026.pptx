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68" d="100"/>
          <a:sy n="168" d="100"/>
        </p:scale>
        <p:origin x="-120" y="-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TC</c:v>
                </c:pt>
              </c:strCache>
            </c:strRef>
          </c:tx>
          <c:spPr>
            <a:solidFill>
              <a:srgbClr val="3B82F6">
                <a:alpha val="100000"/>
              </a:srgb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A162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Aluminum</c:v>
                </c:pt>
                <c:pt idx="1">
                  <c:v>Copper</c:v>
                </c:pt>
                <c:pt idx="2">
                  <c:v>Silicon</c:v>
                </c:pt>
                <c:pt idx="3">
                  <c:v>SiC</c:v>
                </c:pt>
                <c:pt idx="4">
                  <c:v>Diamond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205</c:v>
                </c:pt>
                <c:pt idx="1">
                  <c:v>400</c:v>
                </c:pt>
                <c:pt idx="2">
                  <c:v>150</c:v>
                </c:pt>
                <c:pt idx="3">
                  <c:v>270</c:v>
                </c:pt>
                <c:pt idx="4">
                  <c:v>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F5-3F42-A157-145486DD2CA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5135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7680960" y="411480"/>
            <a:ext cx="292608" cy="29260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8092440" y="685800"/>
            <a:ext cx="457200" cy="457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818120" y="1188720"/>
            <a:ext cx="347472" cy="34747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-1097280" y="3108960"/>
            <a:ext cx="3291840" cy="329184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45720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SCDIAM TECHNOLOGIES</a:t>
            </a:r>
            <a:endParaRPr lang="en-US" sz="1200" dirty="0"/>
          </a:p>
        </p:txBody>
      </p:sp>
      <p:sp>
        <p:nvSpPr>
          <p:cNvPr id="7" name="Shape 1"/>
          <p:cNvSpPr/>
          <p:nvPr/>
        </p:nvSpPr>
        <p:spPr>
          <a:xfrm>
            <a:off x="457200" y="777240"/>
            <a:ext cx="548640" cy="0"/>
          </a:xfrm>
          <a:prstGeom prst="line">
            <a:avLst/>
          </a:prstGeom>
          <a:noFill/>
          <a:ln w="19050">
            <a:solidFill>
              <a:srgbClr val="67E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2"/>
          <p:cNvSpPr/>
          <p:nvPr/>
        </p:nvSpPr>
        <p:spPr>
          <a:xfrm>
            <a:off x="457200" y="1417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Cooling the AI Revolution</a:t>
            </a:r>
            <a:endParaRPr lang="en-US" sz="4800" dirty="0"/>
          </a:p>
        </p:txBody>
      </p:sp>
      <p:sp>
        <p:nvSpPr>
          <p:cNvPr id="9" name="Text 3"/>
          <p:cNvSpPr/>
          <p:nvPr/>
        </p:nvSpPr>
        <p:spPr>
          <a:xfrm>
            <a:off x="457200" y="22860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</a:t>
            </a:r>
            <a:r>
              <a:rPr lang="en-US" sz="4800" b="1" i="1" dirty="0">
                <a:solidFill>
                  <a:srgbClr val="67E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Diamond</a:t>
            </a:r>
            <a:endParaRPr lang="en-US" sz="4800" dirty="0"/>
          </a:p>
        </p:txBody>
      </p:sp>
      <p:sp>
        <p:nvSpPr>
          <p:cNvPr id="10" name="Text 4"/>
          <p:cNvSpPr/>
          <p:nvPr/>
        </p:nvSpPr>
        <p:spPr>
          <a:xfrm>
            <a:off x="457200" y="32461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Single-crystal diamond thermal solutions for AI data centers, GPUs and high-power semiconductors.</a:t>
            </a:r>
            <a:endParaRPr lang="en-US" sz="1500" dirty="0"/>
          </a:p>
        </p:txBody>
      </p:sp>
      <p:sp>
        <p:nvSpPr>
          <p:cNvPr id="11" name="Text 5"/>
          <p:cNvSpPr/>
          <p:nvPr/>
        </p:nvSpPr>
        <p:spPr>
          <a:xfrm>
            <a:off x="45720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DECK   |   APRIL 2026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502920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6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is hitting an energy wall.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demand is doubling every 6–10 months. Data-center power is the single biggest constraint on AI growth — and ~40% of that power goes to fighting heat, not computing.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788920"/>
            <a:ext cx="51206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73152" cy="17830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3×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68580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data-center electricity demand by 2030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40690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to reach ~1,500 TWh — equivalent to India's entire annual electricity use (Source: IMF, 2024).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1417320"/>
            <a:ext cx="28346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89320" y="15270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~40%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989320" y="19202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DC power spent on cooling, not compute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0" y="2496312"/>
            <a:ext cx="28346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89320" y="2606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85–90°C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989320" y="299923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junction-temp ceiling where GPUs throttle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52160" y="3575304"/>
            <a:ext cx="28346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89320" y="36850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$22B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989320" y="4078224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data-center cooling spend in 2024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4846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SCDIAM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6384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DIAMOND   |   WHY NOW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Diamond is the only material that can break the thermal ceiling.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conductivity (W/m·K) — higher is better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2194560"/>
          <a:ext cx="512064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993392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2648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14× faster heat transfer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126480" y="22860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 moves heat ~14× faster than silicon — at the source, before it spreads.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2999232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2648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compatible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6126480" y="32918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integrate at package level. No fab redesign, no architectural rework for the customer.</a:t>
            </a:r>
            <a:endParaRPr lang="en-US" sz="1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4005072"/>
            <a:ext cx="292608" cy="2926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2648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is open now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6126480" y="42976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Hyperscalers are actively procuring novel cooling. Diamond wafer supply is finally maturing — costs are falling fast.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365760" y="4846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SCDIAM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786384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diamond thermal layer between the chip and the cooler.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developed a proprietary process that places single-crystal diamond directly in the chip's thermal path — solving the bottleneck where heat leaves the silicon. The integration is invisible to the customer's stack.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26060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2606040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27706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278892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1792" y="3063240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Diamond Heat Spreader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21792" y="352044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OEM-bonded interface inside the chip package — the highest-impact insertion point.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21792" y="4251960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4–5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46120" y="2606040"/>
            <a:ext cx="26060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246120" y="2606040"/>
            <a:ext cx="2606040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410712" y="27706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9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2788920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10712" y="3063240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Composite Wafers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410712" y="352044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Diamond–metal &amp; diamond–ceramic composites for high-power module makers.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410712" y="4251960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5–6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035040" y="2606040"/>
            <a:ext cx="26060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035040" y="2606040"/>
            <a:ext cx="2606040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199632" y="27706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9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2788920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199632" y="3063240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Diamond Cold Plates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199632" y="352044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Bonded micro-channel cooling for the most thermally constrained AI accelerators.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199632" y="4251960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1–3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365760" y="4846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SCDIAM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786384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Independently tested. Real silicon. Real numbers.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4023360" cy="2926080"/>
          </a:xfrm>
          <a:prstGeom prst="rect">
            <a:avLst/>
          </a:prstGeom>
          <a:solidFill>
            <a:srgbClr val="0A1628"/>
          </a:solidFill>
          <a:ln/>
          <a:effectLst>
            <a:outerShdw blurRad="152400" dist="38100" dir="54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3703320" y="17830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 TEMPERATURE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2194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strike="sngStrike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74°C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2331720" y="2194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67E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57°C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640080" y="2834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331720" y="2834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diamond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32461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−17°C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640080" y="3931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reduction on a 12-core 7nm processor.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754880" y="1691640"/>
            <a:ext cx="393192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93776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TESTED</a:t>
            </a:r>
            <a:endParaRPr lang="en-US" sz="1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295144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30368" y="2240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12-core 7nm processor under sustained load</a:t>
            </a:r>
            <a:endParaRPr lang="en-US" sz="11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798064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30368" y="2743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liquid-metal stack vs. our diamond-integrated stack</a:t>
            </a:r>
            <a:endParaRPr lang="en-US" sz="11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300984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230368" y="3246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at a tier-1 university lab — third-party data</a:t>
            </a:r>
            <a:endParaRPr lang="en-US" sz="11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803904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230368" y="3749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across multiple thermal cycles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4937760" y="41605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translation: a 17°C drop equals up to ~30% less throttling — directly converting to either savings or extra compute (next slide).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365760" y="4846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SCDIAM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786384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 1,000 H100-class GPUs — two ways to win.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hardware. Customer chooses to bank the savings or unlock the performance.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11480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114800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48840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21762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  ·   </a:t>
            </a:r>
          </a:p>
          <a:p>
            <a:pPr marL="0" indent="0">
              <a:buNone/>
            </a:pPr>
            <a:r>
              <a:rPr lang="en-US" sz="12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GREEN STRATEGY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2560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 Operating Costs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0632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$142K</a:t>
            </a:r>
            <a:endParaRPr lang="en-US" sz="6000" dirty="0"/>
          </a:p>
        </p:txBody>
      </p:sp>
      <p:sp>
        <p:nvSpPr>
          <p:cNvPr id="11" name="Text 8"/>
          <p:cNvSpPr/>
          <p:nvPr/>
        </p:nvSpPr>
        <p:spPr>
          <a:xfrm>
            <a:off x="68580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power savings per 1,000-GPU cluster, per year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5800" y="4160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 kW reduction across chip, server and facility cooling — equivalent to taking ~45 homes off the grid.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63440" y="1920240"/>
            <a:ext cx="4023360" cy="2697480"/>
          </a:xfrm>
          <a:prstGeom prst="rect">
            <a:avLst/>
          </a:prstGeom>
          <a:solidFill>
            <a:srgbClr val="0A1628"/>
          </a:solidFill>
          <a:ln/>
          <a:effectLst>
            <a:outerShdw blurRad="152400" dist="38100" dir="54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663440" y="1920240"/>
            <a:ext cx="4023360" cy="7315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8183880" y="4114800"/>
            <a:ext cx="320040" cy="320040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14884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03520" y="21762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  ·   </a:t>
            </a:r>
          </a:p>
          <a:p>
            <a:pPr marL="0" indent="0">
              <a:buNone/>
            </a:pPr>
            <a:r>
              <a:rPr lang="en-US" sz="1200" b="1" kern="0" spc="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PERFORMANCE STRATEGY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892040" y="2560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Unlock More Compute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4892040" y="3063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$1.1M</a:t>
            </a:r>
            <a:endParaRPr lang="en-US" sz="6000" dirty="0"/>
          </a:p>
        </p:txBody>
      </p:sp>
      <p:sp>
        <p:nvSpPr>
          <p:cNvPr id="20" name="Text 15"/>
          <p:cNvSpPr/>
          <p:nvPr/>
        </p:nvSpPr>
        <p:spPr>
          <a:xfrm>
            <a:off x="4892040" y="3794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compute revenue per 1,000-GPU cluster, per year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892040" y="41605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peak clocks → ~5% more throughput at $3/GPU/hr. At 10,000 GPUs that's ~$11M/year in unlocked revenue.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~2× GPU lifetime — extending depreciation cycles and improving YoY unit economics.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365760" y="4846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SCDIAM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786384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 market. Faster-growing wedge.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9202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92024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856232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$22B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" y="2468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Data-center cooling — 2024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28072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today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0" y="1691640"/>
            <a:ext cx="19202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0" y="1691640"/>
            <a:ext cx="192024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70048" y="1856232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$56B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697480" y="2468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Data-center cooling — 2030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97480" y="28072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TAM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691640"/>
            <a:ext cx="19202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1691640"/>
            <a:ext cx="192024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73168" y="1856232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16.4%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800600" y="2468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— DC cooling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28072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→ 2030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66560" y="1691640"/>
            <a:ext cx="19202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766560" y="1691640"/>
            <a:ext cx="192024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76288" y="1856232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$485M+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903720" y="2468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CVD diamond spreaders — 2032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03720" y="28072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wedge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42900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3566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38221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$56B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94360" y="4251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data-center cooling (2030)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3611880"/>
            <a:ext cx="0" cy="9144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37560" y="3566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37560" y="38221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$8.4B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337560" y="4251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AI/HPC thermal interface &amp; spreader segment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43600" y="3611880"/>
            <a:ext cx="0" cy="9144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080760" y="3566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80760" y="38221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$485M+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080760" y="4251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CVD diamond spreader market — entry beachhead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4846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SCDIAM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86384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players sell diamond. We solve thermal integration.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286000" y="16276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60520" y="16276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win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675120" y="16276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win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06654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Six (De Beers)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20665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 supply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60520" y="20665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diamond + Cu-composites, Large IP Portfolio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206654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interface, not just material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48640" y="252374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 Foundry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25237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Single-crystal wafers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60520" y="25237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Wafer fabrication, Foundry Level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252374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Package-level integration, not foundry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48640" y="298094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 Systems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0" y="29809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Polycrystal wafers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60520" y="29809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Anisotropic conductivity, no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dropin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only for New Clients, no retrofit.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0" y="298094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Single-crystal, fully isotropic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343814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 Corp.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86000" y="34381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Diamond–SiC composites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60520" y="34381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CTE-matched ~800 W/m·K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75120" y="343814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~2× higher thermal conductivity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8640" y="389534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TIMs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286000" y="38953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interface mats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60520" y="38953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well-understood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75120" y="389534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Step-change in performance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8640" y="435254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SCDIAM Technologies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286000" y="43525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Die-level thermal stack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60520" y="43525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&amp; warp compatible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75120" y="435254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&amp; Drop-in Compatible. 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IP-defensible, 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4846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SCDIAM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86384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is hard to copy.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9776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73152" cy="13258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9280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8928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integration process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37744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solved the diamond-to-silicon interface problem at package level — the step everyone else stalls on. Process trade secrets + Provisional IP.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09160" y="1691640"/>
            <a:ext cx="39776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09160" y="1691640"/>
            <a:ext cx="73152" cy="13258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89280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8928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for OEMs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83480" y="237744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don't redesign their fab or their architecture. We deliver Diamond based TIM1, their technician can install at their facility. 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57200" y="3200400"/>
            <a:ext cx="39776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57200" y="3200400"/>
            <a:ext cx="73152" cy="13258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401568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34015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Capital-light supply chain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31520" y="388620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 wafer supply is now over-supplied. We don't grow wafers — we transform them. Margin lives in the integration, not the raw material.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4709160" y="3200400"/>
            <a:ext cx="39776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709160" y="3200400"/>
            <a:ext cx="73152" cy="13258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401568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34015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head-start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983480" y="388620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tested results on production-class silicon. Most competitors are still publishing material-level data, not stack-level data.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365760" y="4846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SCDIAM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786384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validated prototype to revenue.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84573"/>
            <a:ext cx="804672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725168" y="1819981"/>
            <a:ext cx="329184" cy="329184"/>
          </a:xfrm>
          <a:prstGeom prst="ellipse">
            <a:avLst/>
          </a:prstGeom>
          <a:solidFill>
            <a:srgbClr val="F97316"/>
          </a:solidFill>
          <a:ln w="381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725168" y="181998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62940" y="2350332"/>
            <a:ext cx="2453640" cy="222166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62940" y="2350333"/>
            <a:ext cx="2453640" cy="7315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2533213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57300" y="2514925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91540" y="2898973"/>
            <a:ext cx="2087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Prototype &amp; data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91540" y="3310453"/>
            <a:ext cx="208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to 6 months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91540" y="3584773"/>
            <a:ext cx="2087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TRL 4–5. Generate live performance data on AI GPU class hardware in our own micro-datacenter.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407408" y="1819981"/>
            <a:ext cx="329184" cy="329184"/>
          </a:xfrm>
          <a:prstGeom prst="ellipse">
            <a:avLst/>
          </a:prstGeom>
          <a:solidFill>
            <a:srgbClr val="3B82F6"/>
          </a:solidFill>
          <a:ln w="381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407408" y="181998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345180" y="2350332"/>
            <a:ext cx="2453640" cy="222166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3780" y="2533213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939540" y="2514925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3573780" y="2898973"/>
            <a:ext cx="2087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deployment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3573780" y="3310453"/>
            <a:ext cx="208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to 15months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573780" y="3584773"/>
            <a:ext cx="2087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install with first hyperscaler / OEM partner. Co-validate at scale.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7089648" y="1819981"/>
            <a:ext cx="329184" cy="329184"/>
          </a:xfrm>
          <a:prstGeom prst="ellipse">
            <a:avLst/>
          </a:prstGeom>
          <a:solidFill>
            <a:srgbClr val="3B82F6"/>
          </a:solidFill>
          <a:ln w="381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7089648" y="181998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027420" y="2350332"/>
            <a:ext cx="2453640" cy="222165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6020" y="2533213"/>
            <a:ext cx="292608" cy="29260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621780" y="2514925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6256020" y="2898973"/>
            <a:ext cx="2087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Commercial rollout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6256020" y="3310453"/>
            <a:ext cx="208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to 24 months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6256020" y="3584772"/>
            <a:ext cx="2087880" cy="872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manufacturing. Multi-customer deployments. Expand to cold-plate and composite product lines. 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1203960" y="1390213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365760" y="4846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SCDIAM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786384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Seed Round.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657600" cy="2926080"/>
          </a:xfrm>
          <a:prstGeom prst="rect">
            <a:avLst/>
          </a:prstGeom>
          <a:solidFill>
            <a:srgbClr val="0A1628"/>
          </a:solidFill>
          <a:ln/>
          <a:effectLst>
            <a:outerShdw blurRad="152400" dist="38100" dir="54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3246120" y="17830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233172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$1.5M</a:t>
            </a:r>
            <a:endParaRPr lang="en-US" sz="6000" dirty="0"/>
          </a:p>
        </p:txBody>
      </p:sp>
      <p:sp>
        <p:nvSpPr>
          <p:cNvPr id="8" name="Shape 5"/>
          <p:cNvSpPr/>
          <p:nvPr/>
        </p:nvSpPr>
        <p:spPr>
          <a:xfrm>
            <a:off x="640080" y="3429000"/>
            <a:ext cx="54864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" y="3566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take us from validated lab data to a TRL 4–5 prototype with real-world AI GPU performance data — over 6 months.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8912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89120" y="2011680"/>
            <a:ext cx="42976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434840" y="2075688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55%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257800" y="2048256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processing &amp; manufacturing assets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257800" y="22860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Bonding, surface treatment, polishing toolchain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389120" y="2606040"/>
            <a:ext cx="42976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434840" y="2670048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257800" y="2642616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data-center hardware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257800" y="28803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GPU systems + cooling test rig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389120" y="3200400"/>
            <a:ext cx="42976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434840" y="3264408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257800" y="3236976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Cleanroom &amp; facility fit-out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257800" y="34747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1000/100, ESD, electrical, safety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389120" y="3794760"/>
            <a:ext cx="42976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434840" y="3858768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257800" y="3831336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operations (6 mo)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257800" y="40690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Process, thermal, lab + IT roles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389120" y="44805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at end of Phase 1: ✓ TRL 4–5 prototype  ✓ Real-world AI GPU data  ✓ Pilot LOI with first OEM/hyperscaler partner.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365760" y="4846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SCDIAM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86384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by 15 years inside the diamond industry.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82296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91440" cy="29260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1920240"/>
            <a:ext cx="1554480" cy="1554480"/>
          </a:xfrm>
          <a:prstGeom prst="ellipse">
            <a:avLst/>
          </a:prstGeom>
          <a:solidFill>
            <a:srgbClr val="0A1628"/>
          </a:solidFill>
          <a:ln w="25400">
            <a:solidFill>
              <a:srgbClr val="67E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67E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MH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60604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Malay Hirani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606040" y="24231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 ·  CHIEF PROCESS ENGINEER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2880360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880360" y="2834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years in CVD diamond — Process Engineer, Raw Material Supplier, Lab Process Engineer, CMP Polishing &amp; QC.</a:t>
            </a:r>
            <a:endParaRPr lang="en-US" sz="11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3246120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80360" y="32004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consultant and advisor to several CVD diamond startups internationally.</a:t>
            </a:r>
            <a:endParaRPr lang="en-US" sz="11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3611880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880360" y="35661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Co-author of a published book on CVD diamonds (2020).</a:t>
            </a:r>
            <a:endParaRPr lang="en-US" sz="11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3977640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880360" y="39319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operator network across the diamond wafer &amp; semiconductor supply chain.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2606040" y="4343400"/>
            <a:ext cx="5852160" cy="2286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2606040" y="43434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hiring: Thermal Analysis Engineer  ·  Hardware Assembly Tech  ·  Lab Chemist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365760" y="4846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SCDIAM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786384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 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7863840" y="411480"/>
            <a:ext cx="292608" cy="29260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8229600" y="731520"/>
            <a:ext cx="457200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VISION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AI data centers to orbit.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Diamond's combination of thermal performance and radiation hardness opens up two adjacent markets that are structurally underserved today.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457200" y="2194560"/>
            <a:ext cx="2606040" cy="2331720"/>
          </a:xfrm>
          <a:prstGeom prst="rect">
            <a:avLst/>
          </a:prstGeom>
          <a:solidFill>
            <a:srgbClr val="152740"/>
          </a:solidFill>
          <a:ln w="9525">
            <a:solidFill>
              <a:srgbClr val="1F3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457200" y="2194560"/>
            <a:ext cx="2606040" cy="54864"/>
          </a:xfrm>
          <a:prstGeom prst="rect">
            <a:avLst/>
          </a:prstGeom>
          <a:solidFill>
            <a:srgbClr val="67E8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46888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5800" y="3063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Orbital Data Centers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85800" y="35661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Diamond's radiation hardness reduces SEU cross-section by ~10–100× vs. silicon, lowering soft-error rates and ECC overhead in LEO/GEO environments.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3246120" y="2194560"/>
            <a:ext cx="2606040" cy="2331720"/>
          </a:xfrm>
          <a:prstGeom prst="rect">
            <a:avLst/>
          </a:prstGeom>
          <a:solidFill>
            <a:srgbClr val="152740"/>
          </a:solidFill>
          <a:ln w="9525">
            <a:solidFill>
              <a:srgbClr val="1F3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3246120" y="2194560"/>
            <a:ext cx="2606040" cy="54864"/>
          </a:xfrm>
          <a:prstGeom prst="rect">
            <a:avLst/>
          </a:prstGeom>
          <a:solidFill>
            <a:srgbClr val="67E8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246888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474720" y="3063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 &amp; Power Electronics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3474720" y="35661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Low-cost, high-performance thermal management for power modules in electric vehicles and grid electronics.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6035040" y="2194560"/>
            <a:ext cx="2606040" cy="2331720"/>
          </a:xfrm>
          <a:prstGeom prst="rect">
            <a:avLst/>
          </a:prstGeom>
          <a:solidFill>
            <a:srgbClr val="152740"/>
          </a:solidFill>
          <a:ln w="9525">
            <a:solidFill>
              <a:srgbClr val="1F3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6035040" y="2194560"/>
            <a:ext cx="2606040" cy="54864"/>
          </a:xfrm>
          <a:prstGeom prst="rect">
            <a:avLst/>
          </a:prstGeom>
          <a:solidFill>
            <a:srgbClr val="67E8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2468880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263640" y="3063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Next-Gen Compute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6263640" y="35661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chips push toward higher power densities, diamond becomes the default thermal substrate — not a premium upgrade.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365760" y="4846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SCDIAM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786384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/ 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-1371600" y="3383280"/>
            <a:ext cx="2286000" cy="2286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8229600" y="3657600"/>
            <a:ext cx="1645920" cy="164592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7772400" y="914400"/>
            <a:ext cx="365760" cy="36576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5720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SCDIAM TECHNOLOGIES</a:t>
            </a:r>
            <a:endParaRPr lang="en-US" sz="1200" dirty="0"/>
          </a:p>
        </p:txBody>
      </p:sp>
      <p:sp>
        <p:nvSpPr>
          <p:cNvPr id="6" name="Shape 1"/>
          <p:cNvSpPr/>
          <p:nvPr/>
        </p:nvSpPr>
        <p:spPr>
          <a:xfrm>
            <a:off x="457200" y="777240"/>
            <a:ext cx="548640" cy="0"/>
          </a:xfrm>
          <a:prstGeom prst="line">
            <a:avLst/>
          </a:prstGeom>
          <a:noFill/>
          <a:ln w="19050">
            <a:solidFill>
              <a:srgbClr val="67E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2"/>
          <p:cNvSpPr/>
          <p:nvPr/>
        </p:nvSpPr>
        <p:spPr>
          <a:xfrm>
            <a:off x="457200" y="1691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cool the next decade of compute.</a:t>
            </a:r>
            <a:endParaRPr lang="en-US" sz="4200" dirty="0"/>
          </a:p>
        </p:txBody>
      </p:sp>
      <p:sp>
        <p:nvSpPr>
          <p:cNvPr id="8" name="Text 3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investor conversations, pilot partners, and strategic collaborators.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40080" y="3840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Malay Hirani  ·  Founder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640080" y="41879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email ]      ·      [ linkedin.com/in/malayhirani ]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   ·   © SCDIAM Technologies   ·   April 2026</a:t>
            </a:r>
            <a:endParaRPr lang="en-US" sz="9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1B8790F5-526D-3C0C-5E61-3812822B5C53}"/>
              </a:ext>
            </a:extLst>
          </p:cNvPr>
          <p:cNvSpPr/>
          <p:nvPr/>
        </p:nvSpPr>
        <p:spPr>
          <a:xfrm>
            <a:off x="45720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Melanin MicroChips, Inc.</a:t>
            </a:r>
            <a:endParaRPr lang="en-US" sz="180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7D2E49A9-3F42-1333-9F08-F0683CB523E8}"/>
              </a:ext>
            </a:extLst>
          </p:cNvPr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Malay Hirani, Diamond Growth Lead  ·  Melanin MicroChips team, Systems &amp; Integration</a:t>
            </a:r>
            <a:endParaRPr lang="en-US" sz="1100" dirty="0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5AC24A33-D3CC-9611-6A26-56E9DCEFA040}"/>
              </a:ext>
            </a:extLst>
          </p:cNvPr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contact@melanin-microchips.com</a:t>
            </a:r>
            <a:endParaRPr lang="en-US" sz="110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769A3585-77D1-376A-5634-BBD53CA9C6AA}"/>
              </a:ext>
            </a:extLst>
          </p:cNvPr>
          <p:cNvSpPr/>
          <p:nvPr/>
        </p:nvSpPr>
        <p:spPr>
          <a:xfrm>
            <a:off x="7772400" y="6217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SBIR Phase I / II — ready to submit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1400</Words>
  <Application>Microsoft Macintosh PowerPoint</Application>
  <PresentationFormat>On-screen Show (16:9)</PresentationFormat>
  <Paragraphs>242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Black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SCDIAM Technologies — Investor Deck</dc:title>
  <dc:subject>PptxGenJS Presentation</dc:subject>
  <dc:creator>SCDIAM Technologies</dc:creator>
  <cp:lastModifiedBy>SCD Technology Limited</cp:lastModifiedBy>
  <cp:revision>3</cp:revision>
  <dcterms:created xsi:type="dcterms:W3CDTF">2026-04-28T17:21:01Z</dcterms:created>
  <dcterms:modified xsi:type="dcterms:W3CDTF">2026-04-28T17:44:39Z</dcterms:modified>
</cp:coreProperties>
</file>